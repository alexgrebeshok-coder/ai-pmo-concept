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0878" y="1674168"/>
            <a:ext cx="6102245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20878" y="2659559"/>
            <a:ext cx="610224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Интеллектуальное управление проектами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0878" y="3202484"/>
            <a:ext cx="61022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Полнофункциональная система на базе AI-агентов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93725"/>
            <a:ext cx="8382000" cy="603052"/>
          </a:xfrm>
          <a:prstGeom prst="roundRect">
            <a:avLst>
              <a:gd name="adj" fmla="val 8424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993725"/>
            <a:ext cx="0" cy="603052"/>
          </a:xfrm>
          <a:prstGeom prst="line">
            <a:avLst/>
          </a:prstGeom>
          <a:noFill/>
          <a:ln w="762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4150" y="1120676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Превышение бюджета проектов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150" y="1317427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среднем проекты превышают бюджет на 15%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698278"/>
            <a:ext cx="8382000" cy="603052"/>
          </a:xfrm>
          <a:prstGeom prst="roundRect">
            <a:avLst>
              <a:gd name="adj" fmla="val 8424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9100" y="1698278"/>
            <a:ext cx="0" cy="603052"/>
          </a:xfrm>
          <a:prstGeom prst="line">
            <a:avLst/>
          </a:prstGeom>
          <a:noFill/>
          <a:ln w="762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150" y="1825228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Срывы сроков реализации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150" y="2021979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Неконтролируемые задержки в расписании работ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000" y="2402830"/>
            <a:ext cx="8382000" cy="603052"/>
          </a:xfrm>
          <a:prstGeom prst="roundRect">
            <a:avLst>
              <a:gd name="adj" fmla="val 8424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19100" y="2402830"/>
            <a:ext cx="0" cy="603052"/>
          </a:xfrm>
          <a:prstGeom prst="line">
            <a:avLst/>
          </a:prstGeom>
          <a:noFill/>
          <a:ln w="762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150" y="2529780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Неэффективное использование ресурсов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4150" y="2726531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Простои техники, неоптимальное распределение команд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000" y="3107382"/>
            <a:ext cx="8382000" cy="603052"/>
          </a:xfrm>
          <a:prstGeom prst="roundRect">
            <a:avLst>
              <a:gd name="adj" fmla="val 8424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9100" y="3107382"/>
            <a:ext cx="0" cy="603052"/>
          </a:xfrm>
          <a:prstGeom prst="line">
            <a:avLst/>
          </a:prstGeom>
          <a:noFill/>
          <a:ln w="762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150" y="3234333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в управлении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4150" y="3431084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Ежегодные потери: 120+ млн руб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AI-PMO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93725"/>
            <a:ext cx="8382000" cy="612577"/>
          </a:xfrm>
          <a:prstGeom prst="roundRect">
            <a:avLst>
              <a:gd name="adj" fmla="val 829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993725"/>
            <a:ext cx="0" cy="612577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4150" y="1120676"/>
            <a:ext cx="8212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Автоматизация управления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150" y="1326952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из 5 специализированных AI-агентов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707803"/>
            <a:ext cx="8382000" cy="612577"/>
          </a:xfrm>
          <a:prstGeom prst="roundRect">
            <a:avLst>
              <a:gd name="adj" fmla="val 829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9100" y="1707803"/>
            <a:ext cx="0" cy="612577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150" y="1834753"/>
            <a:ext cx="8212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Предсказание проблем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150" y="2041029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отклонений в реальном времени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000" y="2421880"/>
            <a:ext cx="8382000" cy="612577"/>
          </a:xfrm>
          <a:prstGeom prst="roundRect">
            <a:avLst>
              <a:gd name="adj" fmla="val 829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19100" y="2421880"/>
            <a:ext cx="0" cy="612577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150" y="2548830"/>
            <a:ext cx="8212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Оптимизация ресурсов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4150" y="2755106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Интеллектуальное распределение работ и техники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000" y="3135957"/>
            <a:ext cx="8382000" cy="612577"/>
          </a:xfrm>
          <a:prstGeom prst="roundRect">
            <a:avLst>
              <a:gd name="adj" fmla="val 829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9100" y="3135957"/>
            <a:ext cx="0" cy="612577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150" y="3262908"/>
            <a:ext cx="8212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Контроль по фактам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4150" y="3469184"/>
            <a:ext cx="8212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Fact + GPS/GLONASS верификация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5 AI-Агентов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222325"/>
            <a:ext cx="4095750" cy="727025"/>
          </a:xfrm>
          <a:prstGeom prst="roundRect">
            <a:avLst>
              <a:gd name="adj" fmla="val 104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222325"/>
            <a:ext cx="0" cy="727025"/>
          </a:xfrm>
          <a:prstGeom prst="line">
            <a:avLst/>
          </a:prstGeom>
          <a:noFill/>
          <a:ln w="57150">
            <a:solidFill>
              <a:srgbClr val="005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0550" y="137472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PMO Director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0550" y="1625501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Центральный координатор, маршрутизация задач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7250" y="1222325"/>
            <a:ext cx="4095750" cy="727025"/>
          </a:xfrm>
          <a:prstGeom prst="roundRect">
            <a:avLst>
              <a:gd name="adj" fmla="val 104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95825" y="1222325"/>
            <a:ext cx="0" cy="727025"/>
          </a:xfrm>
          <a:prstGeom prst="line">
            <a:avLst/>
          </a:prstGeom>
          <a:noFill/>
          <a:ln w="57150">
            <a:solidFill>
              <a:srgbClr val="005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0" y="137472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Planning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6800" y="1625501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расписания, распределение ресурсов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139851"/>
            <a:ext cx="4095750" cy="898475"/>
          </a:xfrm>
          <a:prstGeom prst="roundRect">
            <a:avLst>
              <a:gd name="adj" fmla="val 84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9575" y="2139851"/>
            <a:ext cx="0" cy="898475"/>
          </a:xfrm>
          <a:prstGeom prst="line">
            <a:avLst/>
          </a:prstGeom>
          <a:noFill/>
          <a:ln w="57150">
            <a:solidFill>
              <a:srgbClr val="005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550" y="229225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Monitoring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0550" y="2543026"/>
            <a:ext cx="3808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 реальном времени, выявление отклонений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250" y="2139851"/>
            <a:ext cx="4095750" cy="898475"/>
          </a:xfrm>
          <a:prstGeom prst="roundRect">
            <a:avLst>
              <a:gd name="adj" fmla="val 84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5825" y="2139851"/>
            <a:ext cx="0" cy="898475"/>
          </a:xfrm>
          <a:prstGeom prst="line">
            <a:avLst/>
          </a:prstGeom>
          <a:noFill/>
          <a:ln w="5715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0" y="229225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Financial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6800" y="2543026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финансами, контроль бюджета, EVM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3228826"/>
            <a:ext cx="8382000" cy="727025"/>
          </a:xfrm>
          <a:prstGeom prst="roundRect">
            <a:avLst>
              <a:gd name="adj" fmla="val 104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9575" y="3228826"/>
            <a:ext cx="0" cy="727025"/>
          </a:xfrm>
          <a:prstGeom prst="line">
            <a:avLst/>
          </a:prstGeom>
          <a:noFill/>
          <a:ln w="57150">
            <a:solidFill>
              <a:srgbClr val="005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550" y="3381226"/>
            <a:ext cx="8180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Knowledge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0550" y="3632002"/>
            <a:ext cx="81804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бенчмарков, best practices, интеграция с базой знаний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Fact Модуль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095375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Инновационное решение для контроля техники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587401"/>
            <a:ext cx="8382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Автоматический учет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работы строительной техники по видео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состояния: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работа, простой, движение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интеграция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агентами планирования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объективность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учет по фактическим данным видео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GPS/GLONASS Интеграция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095375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точности и надежности контроля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587401"/>
            <a:ext cx="8382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Реал-тайм трекинг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техники на объектах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Video Fact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 координатам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неавторизованного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использования техники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точность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определения местоположения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Результаты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222325"/>
            <a:ext cx="4064050" cy="1323677"/>
          </a:xfrm>
          <a:prstGeom prst="roundRect">
            <a:avLst>
              <a:gd name="adj" fmla="val 767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246138"/>
            <a:ext cx="4064050" cy="0"/>
          </a:xfrm>
          <a:prstGeom prst="line">
            <a:avLst/>
          </a:prstGeom>
          <a:noFill/>
          <a:ln w="47625">
            <a:solidFill>
              <a:srgbClr val="005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9338" y="1523851"/>
            <a:ext cx="36273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9338" y="2092077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за 5 лет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950" y="1222325"/>
            <a:ext cx="4064050" cy="1323677"/>
          </a:xfrm>
          <a:prstGeom prst="roundRect">
            <a:avLst>
              <a:gd name="adj" fmla="val 767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98950" y="1246138"/>
            <a:ext cx="4064050" cy="0"/>
          </a:xfrm>
          <a:prstGeom prst="line">
            <a:avLst/>
          </a:prstGeom>
          <a:noFill/>
          <a:ln w="47625">
            <a:solidFill>
              <a:srgbClr val="005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7289" y="1523851"/>
            <a:ext cx="36273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17289" y="2092077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руб экономии/год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000" y="2799904"/>
            <a:ext cx="4064050" cy="1323677"/>
          </a:xfrm>
          <a:prstGeom prst="roundRect">
            <a:avLst>
              <a:gd name="adj" fmla="val 767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2823716"/>
            <a:ext cx="4064050" cy="0"/>
          </a:xfrm>
          <a:prstGeom prst="line">
            <a:avLst/>
          </a:prstGeom>
          <a:noFill/>
          <a:ln w="47625">
            <a:solidFill>
              <a:srgbClr val="005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338" y="3101429"/>
            <a:ext cx="36273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9338" y="3669655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8950" y="2799904"/>
            <a:ext cx="4064050" cy="1323677"/>
          </a:xfrm>
          <a:prstGeom prst="roundRect">
            <a:avLst>
              <a:gd name="adj" fmla="val 767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8950" y="2823716"/>
            <a:ext cx="4064050" cy="0"/>
          </a:xfrm>
          <a:prstGeom prst="line">
            <a:avLst/>
          </a:prstGeom>
          <a:noFill/>
          <a:ln w="47625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7289" y="3101429"/>
            <a:ext cx="36273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→ 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17289" y="3669655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превышений бюджета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GPS/GLONASS для Северных Регионов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1925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рекомендации и ROI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111276"/>
            <a:ext cx="8382000" cy="815876"/>
          </a:xfrm>
          <a:prstGeom prst="roundRect">
            <a:avLst>
              <a:gd name="adj" fmla="val 9340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2111276"/>
            <a:ext cx="0" cy="815876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2301776"/>
            <a:ext cx="810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Рекомендуемое оборудование: Teltonika FMC640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8650" y="2565202"/>
            <a:ext cx="8102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Стоимость: 80K руб. Отличная надежность в экстремальных условиях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079552"/>
            <a:ext cx="8382000" cy="815876"/>
          </a:xfrm>
          <a:prstGeom prst="roundRect">
            <a:avLst>
              <a:gd name="adj" fmla="val 9340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3079552"/>
            <a:ext cx="0" cy="815876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650" y="3270052"/>
            <a:ext cx="810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для пилота: 70% в первый год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8650" y="3533477"/>
            <a:ext cx="8102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20 машин, 6-месячный пилот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4047827"/>
            <a:ext cx="8382000" cy="815876"/>
          </a:xfrm>
          <a:prstGeom prst="roundRect">
            <a:avLst>
              <a:gd name="adj" fmla="val 9340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4047827"/>
            <a:ext cx="0" cy="815876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" y="4238327"/>
            <a:ext cx="810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Окупаемость: 8-10 месяцев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650" y="4501753"/>
            <a:ext cx="8102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на 20 единиц техники с полной верификацией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Проекта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158776"/>
            <a:ext cx="8382000" cy="81275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158776"/>
            <a:ext cx="0" cy="812750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" y="1349276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Фазы 0-4: ЗАВЕРШЕНЫ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7700" y="1609576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Исследование, архитектура, планирование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123926"/>
            <a:ext cx="8382000" cy="81275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9100" y="2123926"/>
            <a:ext cx="0" cy="812750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2314426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Подготовка: 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700" y="257472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документов, 29,476 строк технической документации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3089077"/>
            <a:ext cx="8382000" cy="81275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19100" y="3089077"/>
            <a:ext cx="0" cy="812750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" y="3279577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Все критические ошибки исправлены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700" y="353987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 архитектурных проблем решены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4054227"/>
            <a:ext cx="8382000" cy="860375"/>
          </a:xfrm>
          <a:prstGeom prst="roundRect">
            <a:avLst>
              <a:gd name="adj" fmla="val 5904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9100" y="4054227"/>
            <a:ext cx="0" cy="860375"/>
          </a:xfrm>
          <a:prstGeom prst="line">
            <a:avLst/>
          </a:prstGeom>
          <a:noFill/>
          <a:ln w="762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700" y="4244727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Ожидаем: Решение Go/No-Go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700" y="455265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Финансирование и утверждение для Фазы 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93725"/>
            <a:ext cx="8382000" cy="523577"/>
          </a:xfrm>
          <a:prstGeom prst="roundRect">
            <a:avLst>
              <a:gd name="adj" fmla="val 145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2501" y="1095226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Модели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2501" y="1272927"/>
            <a:ext cx="8342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Opus/Sonnet/Haiku для оптимизации затрат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1593503"/>
            <a:ext cx="8382000" cy="523577"/>
          </a:xfrm>
          <a:prstGeom prst="roundRect">
            <a:avLst>
              <a:gd name="adj" fmla="val 145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2501" y="1695004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1872704"/>
            <a:ext cx="8342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с высокой производительностью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2193280"/>
            <a:ext cx="8382000" cy="523577"/>
          </a:xfrm>
          <a:prstGeom prst="roundRect">
            <a:avLst>
              <a:gd name="adj" fmla="val 145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01" y="229478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501" y="2472482"/>
            <a:ext cx="8342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для надежного хранения + Redis для кэша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000" y="2793057"/>
            <a:ext cx="8382000" cy="523577"/>
          </a:xfrm>
          <a:prstGeom prst="roundRect">
            <a:avLst>
              <a:gd name="adj" fmla="val 145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01" y="2894558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RAG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501" y="3072259"/>
            <a:ext cx="8342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для системы бенчмарков и знаний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000" y="3392835"/>
            <a:ext cx="8382000" cy="523577"/>
          </a:xfrm>
          <a:prstGeom prst="roundRect">
            <a:avLst>
              <a:gd name="adj" fmla="val 145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01" y="3494336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501" y="3672036"/>
            <a:ext cx="8342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Cloud-ready, масштабируемая инфраструктура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Сроки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42826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внедрения (при решении GO)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1241227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 1-2: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Формирование команды и разработка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 1-3: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MVP Planning Agent + Video Fact интеграция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 2-4: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Полная интеграция с системой управления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 3-4: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Пилотное внедрение на реальных проектах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 5-6: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Развертывание и rollout по подразделениям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5597" y="1083469"/>
            <a:ext cx="433265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Результаты: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05597" y="1913930"/>
            <a:ext cx="43326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Автоматизация управления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05597" y="2272605"/>
            <a:ext cx="43326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Предсказание и предотвращение проблем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05597" y="2631281"/>
            <a:ext cx="43326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Оптимизация затрат на 25-30%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05597" y="2989957"/>
            <a:ext cx="43326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Контроль по фактам с Video Fact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05597" y="3564582"/>
            <a:ext cx="43326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к внедрению!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AI-PMO: Интеллектуальное управление проектами</dc:title>
  <dc:subject>PptxGenJS Presentation</dc:subject>
  <dc:creator>AI-PMO Project</dc:creator>
  <cp:lastModifiedBy>AI-PMO Project</cp:lastModifiedBy>
  <cp:revision>1</cp:revision>
  <dcterms:created xsi:type="dcterms:W3CDTF">2026-01-29T15:06:59Z</dcterms:created>
  <dcterms:modified xsi:type="dcterms:W3CDTF">2026-01-29T15:06:59Z</dcterms:modified>
</cp:coreProperties>
</file>